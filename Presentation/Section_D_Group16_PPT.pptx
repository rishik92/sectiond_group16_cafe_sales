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ileron Bold" charset="1" panose="00000800000000000000"/>
      <p:regular r:id="rId16"/>
    </p:embeddedFont>
    <p:embeddedFont>
      <p:font typeface="Aileron Bold Italics" charset="1" panose="00000800000000000000"/>
      <p:regular r:id="rId17"/>
    </p:embeddedFont>
    <p:embeddedFont>
      <p:font typeface="Aileron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74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22739" y="4594818"/>
            <a:ext cx="8042523" cy="0"/>
          </a:xfrm>
          <a:prstGeom prst="line">
            <a:avLst/>
          </a:prstGeom>
          <a:ln cap="flat" w="47625">
            <a:solidFill>
              <a:srgbClr val="F4F1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529105" y="4869159"/>
            <a:ext cx="6758895" cy="6905640"/>
          </a:xfrm>
          <a:custGeom>
            <a:avLst/>
            <a:gdLst/>
            <a:ahLst/>
            <a:cxnLst/>
            <a:rect r="r" b="b" t="t" l="l"/>
            <a:pathLst>
              <a:path h="6905640" w="6758895">
                <a:moveTo>
                  <a:pt x="0" y="0"/>
                </a:moveTo>
                <a:lnTo>
                  <a:pt x="6758895" y="0"/>
                </a:lnTo>
                <a:lnTo>
                  <a:pt x="6758895" y="6905640"/>
                </a:lnTo>
                <a:lnTo>
                  <a:pt x="0" y="6905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5810" y="2782825"/>
            <a:ext cx="8356380" cy="126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4521" b="true">
                <a:solidFill>
                  <a:srgbClr val="F4F1EB"/>
                </a:solidFill>
                <a:latin typeface="Aileron Bold"/>
                <a:ea typeface="Aileron Bold"/>
                <a:cs typeface="Aileron Bold"/>
                <a:sym typeface="Aileron Bold"/>
              </a:rPr>
              <a:t>Cafe Sales Performance and Customer Behaviour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5954" y="5159426"/>
            <a:ext cx="15738552" cy="485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Sector Name: Retail                                                                                                                                                          Team ID : Group-16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Team Members :                                                                                                                                                                    Faculty Mentor : Archit Sir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•Ananya Narang (2401020087)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•Divy Kumar Jain (2401010157 )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•Hrishabh Prajapati (2401020027)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•Preet Vardhan(</a:t>
            </a:r>
            <a:r>
              <a:rPr lang="en-US" b="true" sz="2426" i="true" u="non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240101</a:t>
            </a: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0352)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•Rishik (2401010381)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•Shubham Jain (2401010452)</a:t>
            </a:r>
          </a:p>
          <a:p>
            <a:pPr algn="l">
              <a:lnSpc>
                <a:spcPts val="4319"/>
              </a:lnSpc>
            </a:pPr>
            <a:r>
              <a:rPr lang="en-US" b="true" sz="2426" i="true">
                <a:solidFill>
                  <a:srgbClr val="F4F1EB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56000" y="4046136"/>
            <a:ext cx="674252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958051" y="831573"/>
            <a:ext cx="9784066" cy="9075906"/>
          </a:xfrm>
          <a:custGeom>
            <a:avLst/>
            <a:gdLst/>
            <a:ahLst/>
            <a:cxnLst/>
            <a:rect r="r" b="b" t="t" l="l"/>
            <a:pathLst>
              <a:path h="9075906" w="9784066">
                <a:moveTo>
                  <a:pt x="0" y="0"/>
                </a:moveTo>
                <a:lnTo>
                  <a:pt x="9784066" y="0"/>
                </a:lnTo>
                <a:lnTo>
                  <a:pt x="9784066" y="9075906"/>
                </a:lnTo>
                <a:lnTo>
                  <a:pt x="0" y="907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96" t="0" r="-699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7620" y="2371130"/>
            <a:ext cx="6920412" cy="130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7"/>
              </a:lnSpc>
            </a:pPr>
            <a:r>
              <a:rPr lang="en-US" sz="4621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Context and Problem Statement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6000" y="615218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56000" y="3817536"/>
            <a:ext cx="674252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54184" y="5143500"/>
            <a:ext cx="5168489" cy="4413965"/>
          </a:xfrm>
          <a:custGeom>
            <a:avLst/>
            <a:gdLst/>
            <a:ahLst/>
            <a:cxnLst/>
            <a:rect r="r" b="b" t="t" l="l"/>
            <a:pathLst>
              <a:path h="4413965" w="5168489">
                <a:moveTo>
                  <a:pt x="0" y="0"/>
                </a:moveTo>
                <a:lnTo>
                  <a:pt x="5168489" y="0"/>
                </a:lnTo>
                <a:lnTo>
                  <a:pt x="5168489" y="4413965"/>
                </a:lnTo>
                <a:lnTo>
                  <a:pt x="0" y="4413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7620" y="2554431"/>
            <a:ext cx="6920412" cy="72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2"/>
              </a:lnSpc>
            </a:pPr>
            <a:r>
              <a:rPr lang="en-US" sz="5121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Data Engineering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99305" y="4321651"/>
            <a:ext cx="1971601" cy="106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b="true" sz="38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SOURCE</a:t>
            </a:r>
          </a:p>
          <a:p>
            <a:pPr algn="ctr">
              <a:lnSpc>
                <a:spcPts val="416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891314" y="4241896"/>
            <a:ext cx="2505373" cy="53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b="true" sz="38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CLEANING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12725" y="4215204"/>
            <a:ext cx="2975149" cy="53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b="true" sz="38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DICTIONARY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8709" y="5855461"/>
            <a:ext cx="3772793" cy="264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2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Name</a:t>
            </a:r>
          </a:p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2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Cafe_Sales.csv;</a:t>
            </a:r>
          </a:p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2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Rows/Cols</a:t>
            </a:r>
          </a:p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2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7774 transactions; </a:t>
            </a:r>
          </a:p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2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Time Period</a:t>
            </a:r>
          </a:p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32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Full Year 2023.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842380" y="5185400"/>
            <a:ext cx="5168489" cy="4413965"/>
          </a:xfrm>
          <a:custGeom>
            <a:avLst/>
            <a:gdLst/>
            <a:ahLst/>
            <a:cxnLst/>
            <a:rect r="r" b="b" t="t" l="l"/>
            <a:pathLst>
              <a:path h="4413965" w="5168489">
                <a:moveTo>
                  <a:pt x="0" y="0"/>
                </a:moveTo>
                <a:lnTo>
                  <a:pt x="5168489" y="0"/>
                </a:lnTo>
                <a:lnTo>
                  <a:pt x="5168489" y="4413965"/>
                </a:lnTo>
                <a:lnTo>
                  <a:pt x="0" y="4413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20940" y="5345764"/>
            <a:ext cx="4411369" cy="400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170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MISSING</a:t>
            </a:r>
            <a:r>
              <a:rPr lang="en-US" b="true" sz="170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VALUES</a:t>
            </a:r>
          </a:p>
          <a:p>
            <a:pPr algn="ctr">
              <a:lnSpc>
                <a:spcPts val="1973"/>
              </a:lnSpc>
            </a:pPr>
            <a:r>
              <a:rPr lang="en-US" b="true" sz="1701" spc="3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1701" spc="34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Rows with missing/"ERROR" in critical fields removed. Calculation integrity ensured.</a:t>
            </a:r>
          </a:p>
          <a:p>
            <a:pPr algn="ctr">
              <a:lnSpc>
                <a:spcPts val="1973"/>
              </a:lnSpc>
            </a:pPr>
            <a:r>
              <a:rPr lang="en-US" b="true" sz="170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STANDARDIZATION</a:t>
            </a:r>
          </a:p>
          <a:p>
            <a:pPr algn="ctr">
              <a:lnSpc>
                <a:spcPts val="1973"/>
              </a:lnSpc>
            </a:pP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Ambiguous/empty Payment Method/Location grouped into "Unknown."</a:t>
            </a:r>
          </a:p>
          <a:p>
            <a:pPr algn="ctr">
              <a:lnSpc>
                <a:spcPts val="1973"/>
              </a:lnSpc>
            </a:pPr>
            <a:r>
              <a:rPr lang="en-US" b="true" sz="170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DATA CONVERSION</a:t>
            </a: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ctr">
              <a:lnSpc>
                <a:spcPts val="1973"/>
              </a:lnSpc>
            </a:pP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Quantity, Price, Total Spent to numeric; Transaction Date to Datetime.</a:t>
            </a:r>
          </a:p>
          <a:p>
            <a:pPr algn="ctr">
              <a:lnSpc>
                <a:spcPts val="1973"/>
              </a:lnSpc>
            </a:pP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Mathematical Validation</a:t>
            </a:r>
          </a:p>
          <a:p>
            <a:pPr algn="ctr">
              <a:lnSpc>
                <a:spcPts val="1973"/>
              </a:lnSpc>
            </a:pP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"</a:t>
            </a:r>
            <a:r>
              <a:rPr lang="en-US" sz="1701" u="sng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Total Spent" recalculated (Quantity × Price)</a:t>
            </a: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 to eliminate entry errors.</a:t>
            </a:r>
          </a:p>
          <a:p>
            <a:pPr algn="ctr">
              <a:lnSpc>
                <a:spcPts val="1973"/>
              </a:lnSpc>
            </a:pPr>
            <a:r>
              <a:rPr lang="en-US" b="true" sz="170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FINAL VERDICT</a:t>
            </a:r>
          </a:p>
          <a:p>
            <a:pPr algn="ctr">
              <a:lnSpc>
                <a:spcPts val="1973"/>
              </a:lnSpc>
            </a:pPr>
            <a:r>
              <a:rPr lang="en-US" b="true" sz="170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1701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Comprehensive check confirms 7,774 transactions meet type/completeness standards for analysis.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530577" y="5143500"/>
            <a:ext cx="5168489" cy="4413965"/>
          </a:xfrm>
          <a:custGeom>
            <a:avLst/>
            <a:gdLst/>
            <a:ahLst/>
            <a:cxnLst/>
            <a:rect r="r" b="b" t="t" l="l"/>
            <a:pathLst>
              <a:path h="4413965" w="5168489">
                <a:moveTo>
                  <a:pt x="0" y="0"/>
                </a:moveTo>
                <a:lnTo>
                  <a:pt x="5168488" y="0"/>
                </a:lnTo>
                <a:lnTo>
                  <a:pt x="5168488" y="4413965"/>
                </a:lnTo>
                <a:lnTo>
                  <a:pt x="0" y="4413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75504" y="5644503"/>
            <a:ext cx="3478634" cy="305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Transaction ID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Item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Quantity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Price Per Unit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Total Spent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Payment Method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Location</a:t>
            </a:r>
          </a:p>
          <a:p>
            <a:pPr algn="l" marL="601752" indent="-300876" lvl="1">
              <a:lnSpc>
                <a:spcPts val="3038"/>
              </a:lnSpc>
              <a:buFont typeface="Arial"/>
              <a:buChar char="•"/>
            </a:pPr>
            <a:r>
              <a:rPr lang="en-US" b="true" sz="278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Transaction Date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87620" y="3462300"/>
            <a:ext cx="7272874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7620" y="3818425"/>
            <a:ext cx="3991789" cy="2650151"/>
          </a:xfrm>
          <a:custGeom>
            <a:avLst/>
            <a:gdLst/>
            <a:ahLst/>
            <a:cxnLst/>
            <a:rect r="r" b="b" t="t" l="l"/>
            <a:pathLst>
              <a:path h="2650151" w="3991789">
                <a:moveTo>
                  <a:pt x="0" y="0"/>
                </a:moveTo>
                <a:lnTo>
                  <a:pt x="3991790" y="0"/>
                </a:lnTo>
                <a:lnTo>
                  <a:pt x="3991790" y="2650150"/>
                </a:lnTo>
                <a:lnTo>
                  <a:pt x="0" y="2650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7511" y="3818425"/>
            <a:ext cx="3991789" cy="2650151"/>
          </a:xfrm>
          <a:custGeom>
            <a:avLst/>
            <a:gdLst/>
            <a:ahLst/>
            <a:cxnLst/>
            <a:rect r="r" b="b" t="t" l="l"/>
            <a:pathLst>
              <a:path h="2650151" w="3991789">
                <a:moveTo>
                  <a:pt x="0" y="0"/>
                </a:moveTo>
                <a:lnTo>
                  <a:pt x="3991789" y="0"/>
                </a:lnTo>
                <a:lnTo>
                  <a:pt x="3991789" y="2650150"/>
                </a:lnTo>
                <a:lnTo>
                  <a:pt x="0" y="2650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48105" y="3818425"/>
            <a:ext cx="3991789" cy="2650151"/>
          </a:xfrm>
          <a:custGeom>
            <a:avLst/>
            <a:gdLst/>
            <a:ahLst/>
            <a:cxnLst/>
            <a:rect r="r" b="b" t="t" l="l"/>
            <a:pathLst>
              <a:path h="2650151" w="3991789">
                <a:moveTo>
                  <a:pt x="0" y="0"/>
                </a:moveTo>
                <a:lnTo>
                  <a:pt x="3991790" y="0"/>
                </a:lnTo>
                <a:lnTo>
                  <a:pt x="3991790" y="2650150"/>
                </a:lnTo>
                <a:lnTo>
                  <a:pt x="0" y="2650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59084" y="5170068"/>
            <a:ext cx="520270" cy="520270"/>
          </a:xfrm>
          <a:custGeom>
            <a:avLst/>
            <a:gdLst/>
            <a:ahLst/>
            <a:cxnLst/>
            <a:rect r="r" b="b" t="t" l="l"/>
            <a:pathLst>
              <a:path h="520270" w="520270">
                <a:moveTo>
                  <a:pt x="0" y="0"/>
                </a:moveTo>
                <a:lnTo>
                  <a:pt x="520271" y="0"/>
                </a:lnTo>
                <a:lnTo>
                  <a:pt x="520271" y="520270"/>
                </a:lnTo>
                <a:lnTo>
                  <a:pt x="0" y="520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7620" y="2371130"/>
            <a:ext cx="7538867" cy="66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7"/>
              </a:lnSpc>
            </a:pPr>
            <a:r>
              <a:rPr lang="en-US" sz="4621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KPI &amp; Metrics Framework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8512" y="6944825"/>
            <a:ext cx="17713250" cy="270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8"/>
              </a:lnSpc>
            </a:pPr>
            <a:r>
              <a:rPr lang="en-US" b="true" sz="283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Linking Metrics to Business Model:</a:t>
            </a:r>
          </a:p>
          <a:p>
            <a:pPr algn="just" marL="549016" indent="-274508" lvl="1">
              <a:lnSpc>
                <a:spcPts val="3534"/>
              </a:lnSpc>
              <a:buFont typeface="Arial"/>
              <a:buChar char="•"/>
            </a:pPr>
            <a:r>
              <a:rPr lang="en-US" b="true" sz="2542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Solving the Revenue</a:t>
            </a:r>
            <a:r>
              <a:rPr lang="en-US" sz="2542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 Leakage: By measuring True Gross Revenue, we address the problem of underreporting caused by the "ERROR" logs in the raw data.</a:t>
            </a:r>
          </a:p>
          <a:p>
            <a:pPr algn="just" marL="549016" indent="-274508" lvl="1">
              <a:lnSpc>
                <a:spcPts val="3534"/>
              </a:lnSpc>
              <a:buFont typeface="Arial"/>
              <a:buChar char="•"/>
            </a:pPr>
            <a:r>
              <a:rPr lang="en-US" b="true" sz="2542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Wate Reduction</a:t>
            </a:r>
            <a:r>
              <a:rPr lang="en-US" sz="2542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: Volume by Item directly links to our problem statement of managing perishable stock.</a:t>
            </a:r>
          </a:p>
          <a:p>
            <a:pPr algn="just" marL="549016" indent="-274508" lvl="1">
              <a:lnSpc>
                <a:spcPts val="3534"/>
              </a:lnSpc>
              <a:buFont typeface="Arial"/>
              <a:buChar char="•"/>
            </a:pPr>
            <a:r>
              <a:rPr lang="en-US" b="true" sz="2542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Resource Allocation</a:t>
            </a:r>
            <a:r>
              <a:rPr lang="en-US" sz="2542">
                <a:solidFill>
                  <a:srgbClr val="674736"/>
                </a:solidFill>
                <a:latin typeface="Aileron"/>
                <a:ea typeface="Aileron"/>
                <a:cs typeface="Aileron"/>
                <a:sym typeface="Aileron"/>
              </a:rPr>
              <a:t>: By measuring Channel Contribution, the decision maker can decide whether to spend more on "Takeaway" packaging or "In-store" seating and staffing.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84105" y="5131970"/>
            <a:ext cx="1635026" cy="58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0"/>
              </a:lnSpc>
              <a:spcBef>
                <a:spcPct val="0"/>
              </a:spcBef>
            </a:pPr>
            <a:r>
              <a:rPr lang="en-US" b="true" sz="4119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69459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26487" y="5082339"/>
            <a:ext cx="1635026" cy="58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0"/>
              </a:lnSpc>
              <a:spcBef>
                <a:spcPct val="0"/>
              </a:spcBef>
            </a:pPr>
            <a:r>
              <a:rPr lang="en-US" b="true" sz="4119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23505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87911" y="5082322"/>
            <a:ext cx="1308422" cy="58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2"/>
              </a:lnSpc>
              <a:spcBef>
                <a:spcPct val="0"/>
              </a:spcBef>
            </a:pPr>
            <a:r>
              <a:rPr lang="en-US" b="true" sz="4121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7773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60494" y="4296681"/>
            <a:ext cx="2167012" cy="35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2520" i="true">
                <a:solidFill>
                  <a:srgbClr val="67473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T</a:t>
            </a:r>
            <a:r>
              <a:rPr lang="en-US" b="true" sz="2520" i="true">
                <a:solidFill>
                  <a:srgbClr val="67473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otal Quantity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1357" y="4296664"/>
            <a:ext cx="2144316" cy="35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2520" i="true">
                <a:solidFill>
                  <a:srgbClr val="67473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Total 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95652" y="4296664"/>
            <a:ext cx="2753320" cy="35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8"/>
              </a:lnSpc>
              <a:spcBef>
                <a:spcPct val="0"/>
              </a:spcBef>
            </a:pPr>
            <a:r>
              <a:rPr lang="en-US" b="true" sz="2521" i="true">
                <a:solidFill>
                  <a:srgbClr val="674736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Total Transactions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445070" y="5112920"/>
            <a:ext cx="520270" cy="520270"/>
          </a:xfrm>
          <a:custGeom>
            <a:avLst/>
            <a:gdLst/>
            <a:ahLst/>
            <a:cxnLst/>
            <a:rect r="r" b="b" t="t" l="l"/>
            <a:pathLst>
              <a:path h="520270" w="520270">
                <a:moveTo>
                  <a:pt x="0" y="0"/>
                </a:moveTo>
                <a:lnTo>
                  <a:pt x="520270" y="0"/>
                </a:lnTo>
                <a:lnTo>
                  <a:pt x="520270" y="520270"/>
                </a:lnTo>
                <a:lnTo>
                  <a:pt x="0" y="520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620" y="2380655"/>
            <a:ext cx="6920412" cy="147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2"/>
              </a:lnSpc>
            </a:pPr>
            <a:r>
              <a:rPr lang="en-US" sz="5121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Key Insights (EDA)</a:t>
            </a:r>
          </a:p>
          <a:p>
            <a:pPr algn="l">
              <a:lnSpc>
                <a:spcPts val="590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787620" y="3656193"/>
            <a:ext cx="674252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7620" y="3904274"/>
            <a:ext cx="17185025" cy="612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b="true" sz="4210" spc="218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Strategic Observations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Coffee remains the most frequent purchase, indicating high customer retention and daily habits.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Salad contributes 21.4% of total revenue, indicating it is more expensive than rest of the items.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Low-cost items like Cookies are consistently paired with larger orders.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October and June are the highest performing periods.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Smoothie demand increased by 70%, whereas Sandwich demand decreased by 20% between January and June.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Sales are nearly perfectly balanced between In-store and Takeaway, requiring a Hybrid service focus.</a:t>
            </a:r>
          </a:p>
          <a:p>
            <a:pPr algn="l" marL="570434" indent="-285217" lvl="1">
              <a:lnSpc>
                <a:spcPts val="3883"/>
              </a:lnSpc>
              <a:buFont typeface="Arial"/>
              <a:buChar char="•"/>
            </a:pPr>
            <a:r>
              <a:rPr lang="en-US" b="true" sz="2642" spc="13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Digital Wallet and Credit Card payments are now equal to Cash, suggesting a shift toward a cashless model.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620" y="2380655"/>
            <a:ext cx="6920412" cy="151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7"/>
              </a:lnSpc>
            </a:pPr>
            <a:r>
              <a:rPr lang="en-US" sz="5420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Advanced Analysis</a:t>
            </a:r>
          </a:p>
          <a:p>
            <a:pPr algn="l">
              <a:lnSpc>
                <a:spcPts val="5907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787620" y="3711900"/>
            <a:ext cx="674252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862601" y="6904400"/>
            <a:ext cx="5122880" cy="3163705"/>
          </a:xfrm>
          <a:custGeom>
            <a:avLst/>
            <a:gdLst/>
            <a:ahLst/>
            <a:cxnLst/>
            <a:rect r="r" b="b" t="t" l="l"/>
            <a:pathLst>
              <a:path h="3163705" w="5122880">
                <a:moveTo>
                  <a:pt x="0" y="0"/>
                </a:moveTo>
                <a:lnTo>
                  <a:pt x="5122880" y="0"/>
                </a:lnTo>
                <a:lnTo>
                  <a:pt x="5122880" y="3163705"/>
                </a:lnTo>
                <a:lnTo>
                  <a:pt x="0" y="316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3608" y="3388947"/>
            <a:ext cx="5200865" cy="3221589"/>
          </a:xfrm>
          <a:custGeom>
            <a:avLst/>
            <a:gdLst/>
            <a:ahLst/>
            <a:cxnLst/>
            <a:rect r="r" b="b" t="t" l="l"/>
            <a:pathLst>
              <a:path h="3221589" w="5200865">
                <a:moveTo>
                  <a:pt x="0" y="0"/>
                </a:moveTo>
                <a:lnTo>
                  <a:pt x="5200866" y="0"/>
                </a:lnTo>
                <a:lnTo>
                  <a:pt x="5200866" y="3221588"/>
                </a:lnTo>
                <a:lnTo>
                  <a:pt x="0" y="3221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62601" y="55841"/>
            <a:ext cx="4981264" cy="3075931"/>
          </a:xfrm>
          <a:custGeom>
            <a:avLst/>
            <a:gdLst/>
            <a:ahLst/>
            <a:cxnLst/>
            <a:rect r="r" b="b" t="t" l="l"/>
            <a:pathLst>
              <a:path h="3075931" w="4981264">
                <a:moveTo>
                  <a:pt x="0" y="0"/>
                </a:moveTo>
                <a:lnTo>
                  <a:pt x="4981265" y="0"/>
                </a:lnTo>
                <a:lnTo>
                  <a:pt x="4981265" y="3075931"/>
                </a:lnTo>
                <a:lnTo>
                  <a:pt x="0" y="307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7620" y="4139511"/>
            <a:ext cx="11603960" cy="47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6"/>
              </a:lnSpc>
            </a:pPr>
            <a:r>
              <a:rPr lang="en-US" b="true" sz="2567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Seasonal Variance Analysis:</a:t>
            </a:r>
          </a:p>
          <a:p>
            <a:pPr algn="l" marL="467161" indent="-233581" lvl="1">
              <a:lnSpc>
                <a:spcPts val="2769"/>
              </a:lnSpc>
              <a:buFont typeface="Arial"/>
              <a:buChar char="•"/>
            </a:pPr>
            <a:r>
              <a:rPr lang="en-US" b="true" sz="216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A comparative study between January and June reveals a 70.4% surge in Smoothie demand, indicating high sensitivity to summer temperature peaks.</a:t>
            </a:r>
          </a:p>
          <a:p>
            <a:pPr algn="l" marL="467161" indent="-233581" lvl="1">
              <a:lnSpc>
                <a:spcPts val="2769"/>
              </a:lnSpc>
              <a:buFont typeface="Arial"/>
              <a:buChar char="•"/>
            </a:pPr>
            <a:r>
              <a:rPr lang="en-US" b="true" sz="216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Conversely, "Heavy" items like Sandwiches and Cakes saw a 15–20% decline during the same period, suggesting a seasonal shift in consumer appetite.</a:t>
            </a:r>
          </a:p>
          <a:p>
            <a:pPr algn="l">
              <a:lnSpc>
                <a:spcPts val="3282"/>
              </a:lnSpc>
            </a:pPr>
            <a:r>
              <a:rPr lang="en-US" b="true" sz="256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Location-Menu Affinity:</a:t>
            </a:r>
          </a:p>
          <a:p>
            <a:pPr algn="l" marL="467161" indent="-233581" lvl="1">
              <a:lnSpc>
                <a:spcPts val="2769"/>
              </a:lnSpc>
              <a:buFont typeface="Arial"/>
              <a:buChar char="•"/>
            </a:pPr>
            <a:r>
              <a:rPr lang="en-US" b="true" sz="216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Takeaway orders are dominated by Quick Consumables like Coffee and Cookies (900+ units each)</a:t>
            </a:r>
          </a:p>
          <a:p>
            <a:pPr algn="l" marL="467161" indent="-233581" lvl="1">
              <a:lnSpc>
                <a:spcPts val="2769"/>
              </a:lnSpc>
              <a:buFont typeface="Arial"/>
              <a:buChar char="•"/>
            </a:pPr>
            <a:r>
              <a:rPr lang="en-US" b="true" sz="216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In-store dining shows a higher preference for "Meal-based" items like Salads and Juices.</a:t>
            </a:r>
          </a:p>
          <a:p>
            <a:pPr algn="l">
              <a:lnSpc>
                <a:spcPts val="3282"/>
              </a:lnSpc>
            </a:pPr>
            <a:r>
              <a:rPr lang="en-US" b="true" sz="256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Systemic Data Gaps:</a:t>
            </a:r>
          </a:p>
          <a:p>
            <a:pPr algn="l" marL="467161" indent="-233581" lvl="1">
              <a:lnSpc>
                <a:spcPts val="2769"/>
              </a:lnSpc>
              <a:buFont typeface="Arial"/>
              <a:buChar char="•"/>
            </a:pPr>
            <a:r>
              <a:rPr lang="en-US" b="true" sz="216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The 31.6% "Unknown" payment rate shows no seasonal pattern, confirming it is a year-round technical glitch rather than a human error.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87620" y="3175510"/>
            <a:ext cx="835638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51291" y="6989436"/>
            <a:ext cx="5166730" cy="3191216"/>
          </a:xfrm>
          <a:custGeom>
            <a:avLst/>
            <a:gdLst/>
            <a:ahLst/>
            <a:cxnLst/>
            <a:rect r="r" b="b" t="t" l="l"/>
            <a:pathLst>
              <a:path h="3191216" w="5166730">
                <a:moveTo>
                  <a:pt x="0" y="0"/>
                </a:moveTo>
                <a:lnTo>
                  <a:pt x="5166730" y="0"/>
                </a:lnTo>
                <a:lnTo>
                  <a:pt x="5166730" y="3191216"/>
                </a:lnTo>
                <a:lnTo>
                  <a:pt x="0" y="3191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6143" y="3535137"/>
            <a:ext cx="5099189" cy="3149499"/>
          </a:xfrm>
          <a:custGeom>
            <a:avLst/>
            <a:gdLst/>
            <a:ahLst/>
            <a:cxnLst/>
            <a:rect r="r" b="b" t="t" l="l"/>
            <a:pathLst>
              <a:path h="3149499" w="5099189">
                <a:moveTo>
                  <a:pt x="0" y="0"/>
                </a:moveTo>
                <a:lnTo>
                  <a:pt x="5099189" y="0"/>
                </a:lnTo>
                <a:lnTo>
                  <a:pt x="5099189" y="3149499"/>
                </a:lnTo>
                <a:lnTo>
                  <a:pt x="0" y="3149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33064" y="6944257"/>
            <a:ext cx="4688851" cy="2929112"/>
          </a:xfrm>
          <a:custGeom>
            <a:avLst/>
            <a:gdLst/>
            <a:ahLst/>
            <a:cxnLst/>
            <a:rect r="r" b="b" t="t" l="l"/>
            <a:pathLst>
              <a:path h="2929112" w="4688851">
                <a:moveTo>
                  <a:pt x="0" y="0"/>
                </a:moveTo>
                <a:lnTo>
                  <a:pt x="4688851" y="0"/>
                </a:lnTo>
                <a:lnTo>
                  <a:pt x="4688851" y="2929112"/>
                </a:lnTo>
                <a:lnTo>
                  <a:pt x="0" y="2929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7620" y="2150191"/>
            <a:ext cx="9145444" cy="77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7"/>
              </a:lnSpc>
            </a:pPr>
            <a:r>
              <a:rPr lang="en-US" sz="5420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Dashboard Walkthrough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8257" y="3724732"/>
            <a:ext cx="3938692" cy="233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5635" indent="-222818" lvl="1">
              <a:lnSpc>
                <a:spcPts val="2642"/>
              </a:lnSpc>
              <a:buFont typeface="Arial"/>
              <a:buChar char="•"/>
            </a:pPr>
            <a:r>
              <a:rPr lang="en-US" b="true" sz="206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Coffee, Juice, and Cake are the most frequently ordered items.</a:t>
            </a:r>
          </a:p>
          <a:p>
            <a:pPr algn="ctr" marL="445635" indent="-222818" lvl="1">
              <a:lnSpc>
                <a:spcPts val="2642"/>
              </a:lnSpc>
              <a:buFont typeface="Arial"/>
              <a:buChar char="•"/>
            </a:pPr>
            <a:r>
              <a:rPr lang="en-US" b="true" sz="206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Sandwiches and Smoothies also show strong, consistent demand across all months.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5256" y="7198724"/>
            <a:ext cx="3532363" cy="26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4755" indent="-222377" lvl="1">
              <a:lnSpc>
                <a:spcPts val="2636"/>
              </a:lnSpc>
              <a:buFont typeface="Arial"/>
              <a:buChar char="•"/>
            </a:pPr>
            <a:r>
              <a:rPr lang="en-US" b="true" sz="206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Salads and Sandwiches generate the highest total revenue.</a:t>
            </a:r>
          </a:p>
          <a:p>
            <a:pPr algn="ctr" marL="444755" indent="-222377" lvl="1">
              <a:lnSpc>
                <a:spcPts val="2636"/>
              </a:lnSpc>
              <a:buFont typeface="Arial"/>
              <a:buChar char="•"/>
            </a:pPr>
            <a:r>
              <a:rPr lang="en-US" b="true" sz="206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 Monthly revenue remains stable at approximately $6,000, totaling $69,459 annually.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23400" y="7208249"/>
            <a:ext cx="3248863" cy="270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086" indent="-205043" lvl="1">
              <a:lnSpc>
                <a:spcPts val="2431"/>
              </a:lnSpc>
              <a:buFont typeface="Arial"/>
              <a:buChar char="•"/>
            </a:pPr>
            <a:r>
              <a:rPr lang="en-US" b="true" sz="1899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Orders are evenly split between In-store (30.7%) and Takeaway (29.5%).</a:t>
            </a:r>
          </a:p>
          <a:p>
            <a:pPr algn="ctr" marL="410086" indent="-205043" lvl="1">
              <a:lnSpc>
                <a:spcPts val="2431"/>
              </a:lnSpc>
              <a:buFont typeface="Arial"/>
              <a:buChar char="•"/>
            </a:pPr>
            <a:r>
              <a:rPr lang="en-US" b="true" sz="1899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A significant 39.8% of orders have an "Unknown" location, hindering logistics planning.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19339" y="3847405"/>
            <a:ext cx="3452924" cy="236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00429" indent="-200215" lvl="1">
              <a:lnSpc>
                <a:spcPts val="2374"/>
              </a:lnSpc>
              <a:buFont typeface="Arial"/>
              <a:buChar char="•"/>
            </a:pPr>
            <a:r>
              <a:rPr lang="en-US" b="true" sz="185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Cash, Credit Card, and Digital Wallets are used almost equally (~23% each).</a:t>
            </a:r>
          </a:p>
          <a:p>
            <a:pPr algn="ctr" marL="400429" indent="-200215" lvl="1">
              <a:lnSpc>
                <a:spcPts val="2374"/>
              </a:lnSpc>
              <a:buFont typeface="Arial"/>
              <a:buChar char="•"/>
            </a:pPr>
            <a:r>
              <a:rPr lang="en-US" b="true" sz="185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31.1% of transactions are marked "Unknown," highlighting a critical need for system reconciliation.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984352" y="3621975"/>
            <a:ext cx="4586275" cy="2832317"/>
          </a:xfrm>
          <a:custGeom>
            <a:avLst/>
            <a:gdLst/>
            <a:ahLst/>
            <a:cxnLst/>
            <a:rect r="r" b="b" t="t" l="l"/>
            <a:pathLst>
              <a:path h="2832317" w="4586275">
                <a:moveTo>
                  <a:pt x="0" y="0"/>
                </a:moveTo>
                <a:lnTo>
                  <a:pt x="4586275" y="0"/>
                </a:lnTo>
                <a:lnTo>
                  <a:pt x="4586275" y="2832317"/>
                </a:lnTo>
                <a:lnTo>
                  <a:pt x="0" y="2832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87620" y="3708927"/>
            <a:ext cx="674252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56000" y="4367199"/>
            <a:ext cx="16947895" cy="5598593"/>
          </a:xfrm>
          <a:custGeom>
            <a:avLst/>
            <a:gdLst/>
            <a:ahLst/>
            <a:cxnLst/>
            <a:rect r="r" b="b" t="t" l="l"/>
            <a:pathLst>
              <a:path h="5598593" w="16947895">
                <a:moveTo>
                  <a:pt x="0" y="0"/>
                </a:moveTo>
                <a:lnTo>
                  <a:pt x="16947895" y="0"/>
                </a:lnTo>
                <a:lnTo>
                  <a:pt x="16947895" y="5598593"/>
                </a:lnTo>
                <a:lnTo>
                  <a:pt x="0" y="559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60" r="0" b="-72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7620" y="2380655"/>
            <a:ext cx="6920412" cy="77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9"/>
              </a:lnSpc>
            </a:pPr>
            <a:r>
              <a:rPr lang="en-US" sz="5421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Recommendations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7620" y="2380655"/>
            <a:ext cx="6920412" cy="151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7"/>
              </a:lnSpc>
            </a:pPr>
            <a:r>
              <a:rPr lang="en-US" sz="5420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Impact &amp; Value</a:t>
            </a:r>
          </a:p>
          <a:p>
            <a:pPr algn="l">
              <a:lnSpc>
                <a:spcPts val="5907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787620" y="3637625"/>
            <a:ext cx="6742520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7620" y="3894647"/>
            <a:ext cx="4387671" cy="5949385"/>
          </a:xfrm>
          <a:custGeom>
            <a:avLst/>
            <a:gdLst/>
            <a:ahLst/>
            <a:cxnLst/>
            <a:rect r="r" b="b" t="t" l="l"/>
            <a:pathLst>
              <a:path h="5949385" w="4387671">
                <a:moveTo>
                  <a:pt x="0" y="0"/>
                </a:moveTo>
                <a:lnTo>
                  <a:pt x="4387672" y="0"/>
                </a:lnTo>
                <a:lnTo>
                  <a:pt x="4387672" y="5949385"/>
                </a:lnTo>
                <a:lnTo>
                  <a:pt x="0" y="5949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29625" y="3894647"/>
            <a:ext cx="4387671" cy="5949385"/>
          </a:xfrm>
          <a:custGeom>
            <a:avLst/>
            <a:gdLst/>
            <a:ahLst/>
            <a:cxnLst/>
            <a:rect r="r" b="b" t="t" l="l"/>
            <a:pathLst>
              <a:path h="5949385" w="4387671">
                <a:moveTo>
                  <a:pt x="0" y="0"/>
                </a:moveTo>
                <a:lnTo>
                  <a:pt x="4387671" y="0"/>
                </a:lnTo>
                <a:lnTo>
                  <a:pt x="4387671" y="5949385"/>
                </a:lnTo>
                <a:lnTo>
                  <a:pt x="0" y="5949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71629" y="3894647"/>
            <a:ext cx="4387671" cy="5949385"/>
          </a:xfrm>
          <a:custGeom>
            <a:avLst/>
            <a:gdLst/>
            <a:ahLst/>
            <a:cxnLst/>
            <a:rect r="r" b="b" t="t" l="l"/>
            <a:pathLst>
              <a:path h="5949385" w="4387671">
                <a:moveTo>
                  <a:pt x="0" y="0"/>
                </a:moveTo>
                <a:lnTo>
                  <a:pt x="4387671" y="0"/>
                </a:lnTo>
                <a:lnTo>
                  <a:pt x="4387671" y="5949385"/>
                </a:lnTo>
                <a:lnTo>
                  <a:pt x="0" y="5949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1367" y="5105400"/>
            <a:ext cx="4105296" cy="378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b="true" sz="2295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By maintaining season specialist stock, we can prevent stock-outs and capture a 20-30% increase in seasonal revenue.</a:t>
            </a:r>
          </a:p>
          <a:p>
            <a:pPr algn="ctr">
              <a:lnSpc>
                <a:spcPts val="2501"/>
              </a:lnSpc>
            </a:pPr>
          </a:p>
          <a:p>
            <a:pPr algn="ctr">
              <a:lnSpc>
                <a:spcPts val="2501"/>
              </a:lnSpc>
            </a:pPr>
          </a:p>
          <a:p>
            <a:pPr algn="ctr">
              <a:lnSpc>
                <a:spcPts val="2501"/>
              </a:lnSpc>
            </a:pPr>
            <a:r>
              <a:rPr lang="en-US" b="true" sz="2295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The loyalty program and QR feedback will help convert one-time visitors into regulars, increasing long-term sales.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8808" y="4008947"/>
            <a:ext cx="4030414" cy="50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b="true" sz="3620">
                <a:solidFill>
                  <a:srgbClr val="F4F1EB"/>
                </a:solidFill>
                <a:latin typeface="Aileron Bold"/>
                <a:ea typeface="Aileron Bold"/>
                <a:cs typeface="Aileron Bold"/>
                <a:sym typeface="Aileron Bold"/>
              </a:rPr>
              <a:t>Revenue &amp; Growth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37820" y="4044508"/>
            <a:ext cx="4171280" cy="44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b="true" sz="3120">
                <a:solidFill>
                  <a:srgbClr val="F4F1EB"/>
                </a:solidFill>
                <a:latin typeface="Aileron Bold"/>
                <a:ea typeface="Aileron Bold"/>
                <a:cs typeface="Aileron Bold"/>
                <a:sym typeface="Aileron Bold"/>
              </a:rPr>
              <a:t>Operational Efficiency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84196" y="3989898"/>
            <a:ext cx="3663107" cy="50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b="true" sz="3620">
                <a:solidFill>
                  <a:srgbClr val="F4F1EB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 &amp; Trust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7820" y="5047518"/>
            <a:ext cx="4171280" cy="390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b="true" sz="240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mproving the seating layout and adding a waiting zone will speed up the flow of both Dine-In and Takeaway orders.</a:t>
            </a:r>
          </a:p>
          <a:p>
            <a:pPr algn="ctr">
              <a:lnSpc>
                <a:spcPts val="2616"/>
              </a:lnSpc>
              <a:spcBef>
                <a:spcPct val="0"/>
              </a:spcBef>
            </a:pPr>
          </a:p>
          <a:p>
            <a:pPr algn="ctr">
              <a:lnSpc>
                <a:spcPts val="2616"/>
              </a:lnSpc>
              <a:spcBef>
                <a:spcPct val="0"/>
              </a:spcBef>
            </a:pPr>
          </a:p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b="true" sz="240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Proper season management ensures staff spend less time dealing with shortages and more time serving customers.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6096" y="5114962"/>
            <a:ext cx="3993951" cy="388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b="true" sz="230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Fixing the UNKNOWN payments issue ensures every transaction is tracked, eliminating revenue leakage and accounting errors.</a:t>
            </a:r>
          </a:p>
          <a:p>
            <a:pPr algn="ctr">
              <a:lnSpc>
                <a:spcPts val="2806"/>
              </a:lnSpc>
            </a:pPr>
          </a:p>
          <a:p>
            <a:pPr algn="ctr">
              <a:lnSpc>
                <a:spcPts val="2806"/>
              </a:lnSpc>
            </a:pPr>
            <a:r>
              <a:rPr lang="en-US" b="true" sz="2300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Clearer order status reduces confusion for the kitchen staff and ensures customers get their orders exactly how they want them.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9084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87620" y="3544781"/>
            <a:ext cx="7875562" cy="0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87620" y="2352080"/>
            <a:ext cx="8870127" cy="77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7"/>
              </a:lnSpc>
            </a:pPr>
            <a:r>
              <a:rPr lang="en-US" sz="5420" b="true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Limitations &amp; Next Steps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9610125" y="4068555"/>
            <a:ext cx="23810" cy="5700879"/>
          </a:xfrm>
          <a:prstGeom prst="line">
            <a:avLst/>
          </a:prstGeom>
          <a:ln cap="flat" w="47625">
            <a:solidFill>
              <a:srgbClr val="6747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427389" y="3987694"/>
            <a:ext cx="3666083" cy="77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7"/>
              </a:lnSpc>
              <a:spcBef>
                <a:spcPct val="0"/>
              </a:spcBef>
            </a:pPr>
            <a:r>
              <a:rPr lang="en-US" b="true" sz="5420">
                <a:solidFill>
                  <a:srgbClr val="BE9971"/>
                </a:solidFill>
                <a:latin typeface="Aileron Bold"/>
                <a:ea typeface="Aileron Bold"/>
                <a:cs typeface="Aileron Bold"/>
                <a:sym typeface="Aileron Bold"/>
              </a:rPr>
              <a:t>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39072" y="3987694"/>
            <a:ext cx="3501554" cy="77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7"/>
              </a:lnSpc>
              <a:spcBef>
                <a:spcPct val="0"/>
              </a:spcBef>
            </a:pPr>
            <a:r>
              <a:rPr lang="en-US" b="true" sz="5420">
                <a:solidFill>
                  <a:srgbClr val="BE9971"/>
                </a:solidFill>
                <a:latin typeface="Aileron Bold"/>
                <a:ea typeface="Aileron Bold"/>
                <a:cs typeface="Aileron Bold"/>
                <a:sym typeface="Aileron Bold"/>
              </a:rPr>
              <a:t>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" y="5377861"/>
            <a:ext cx="9144000" cy="36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5666" indent="-237833" lvl="1">
              <a:lnSpc>
                <a:spcPts val="2401"/>
              </a:lnSpc>
              <a:buFont typeface="Arial"/>
              <a:buChar char="•"/>
            </a:pPr>
            <a:r>
              <a:rPr lang="en-US" b="true" sz="220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Current data doesn't show exactly why payments are failing, only that they are "UNKNOWN.”</a:t>
            </a:r>
          </a:p>
          <a:p>
            <a:pPr algn="ctr">
              <a:lnSpc>
                <a:spcPts val="2401"/>
              </a:lnSpc>
              <a:spcBef>
                <a:spcPct val="0"/>
              </a:spcBef>
            </a:pPr>
          </a:p>
          <a:p>
            <a:pPr algn="ctr">
              <a:lnSpc>
                <a:spcPts val="2401"/>
              </a:lnSpc>
              <a:spcBef>
                <a:spcPct val="0"/>
              </a:spcBef>
            </a:pPr>
          </a:p>
          <a:p>
            <a:pPr algn="ctr">
              <a:lnSpc>
                <a:spcPts val="2401"/>
              </a:lnSpc>
              <a:spcBef>
                <a:spcPct val="0"/>
              </a:spcBef>
            </a:pPr>
          </a:p>
          <a:p>
            <a:pPr algn="ctr" marL="475666" indent="-237833" lvl="1">
              <a:lnSpc>
                <a:spcPts val="2401"/>
              </a:lnSpc>
              <a:buFont typeface="Arial"/>
              <a:buChar char="•"/>
            </a:pPr>
            <a:r>
              <a:rPr lang="en-US" b="true" sz="220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The physical size of the shop might limit how many new seats we can actually add.</a:t>
            </a:r>
          </a:p>
          <a:p>
            <a:pPr algn="ctr">
              <a:lnSpc>
                <a:spcPts val="2401"/>
              </a:lnSpc>
              <a:spcBef>
                <a:spcPct val="0"/>
              </a:spcBef>
            </a:pPr>
          </a:p>
          <a:p>
            <a:pPr algn="ctr">
              <a:lnSpc>
                <a:spcPts val="2401"/>
              </a:lnSpc>
              <a:spcBef>
                <a:spcPct val="0"/>
              </a:spcBef>
            </a:pPr>
          </a:p>
          <a:p>
            <a:pPr algn="ctr">
              <a:lnSpc>
                <a:spcPts val="2401"/>
              </a:lnSpc>
              <a:spcBef>
                <a:spcPct val="0"/>
              </a:spcBef>
            </a:pPr>
          </a:p>
          <a:p>
            <a:pPr algn="ctr" marL="475666" indent="-237833" lvl="1">
              <a:lnSpc>
                <a:spcPts val="2401"/>
              </a:lnSpc>
              <a:buFont typeface="Arial"/>
              <a:buChar char="•"/>
            </a:pPr>
            <a:r>
              <a:rPr lang="en-US" b="true" sz="2203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Summer demand can fluctuate based on heatwaves or rain, making stock management tricky.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69801" y="5153025"/>
            <a:ext cx="7402266" cy="415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65170" indent="-232585" lvl="1">
              <a:lnSpc>
                <a:spcPts val="2348"/>
              </a:lnSpc>
              <a:buFont typeface="Arial"/>
              <a:buChar char="•"/>
            </a:pPr>
            <a:r>
              <a:rPr lang="en-US" b="true" sz="215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Incorporate cost and margin data to enable profitability and contribution margin analysis.</a:t>
            </a:r>
          </a:p>
          <a:p>
            <a:pPr algn="ctr">
              <a:lnSpc>
                <a:spcPts val="2348"/>
              </a:lnSpc>
            </a:pPr>
          </a:p>
          <a:p>
            <a:pPr algn="ctr">
              <a:lnSpc>
                <a:spcPts val="2348"/>
              </a:lnSpc>
            </a:pPr>
          </a:p>
          <a:p>
            <a:pPr algn="ctr" marL="465170" indent="-232585" lvl="1">
              <a:lnSpc>
                <a:spcPts val="2348"/>
              </a:lnSpc>
              <a:buFont typeface="Arial"/>
              <a:buChar char="•"/>
            </a:pPr>
            <a:r>
              <a:rPr lang="en-US" b="true" sz="215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Improve POS data validation to eliminate missing location and payment entries.</a:t>
            </a:r>
          </a:p>
          <a:p>
            <a:pPr algn="ctr">
              <a:lnSpc>
                <a:spcPts val="2348"/>
              </a:lnSpc>
            </a:pPr>
          </a:p>
          <a:p>
            <a:pPr algn="ctr">
              <a:lnSpc>
                <a:spcPts val="2348"/>
              </a:lnSpc>
            </a:pPr>
          </a:p>
          <a:p>
            <a:pPr algn="ctr" marL="465170" indent="-232585" lvl="1">
              <a:lnSpc>
                <a:spcPts val="2348"/>
              </a:lnSpc>
              <a:buFont typeface="Arial"/>
              <a:buChar char="•"/>
            </a:pPr>
            <a:r>
              <a:rPr lang="en-US" b="true" sz="215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Apply forecasting techniques to predict future sales and support inventory and staffing planning.</a:t>
            </a:r>
          </a:p>
          <a:p>
            <a:pPr algn="ctr">
              <a:lnSpc>
                <a:spcPts val="2348"/>
              </a:lnSpc>
            </a:pPr>
          </a:p>
          <a:p>
            <a:pPr algn="ctr">
              <a:lnSpc>
                <a:spcPts val="2348"/>
              </a:lnSpc>
            </a:pPr>
          </a:p>
          <a:p>
            <a:pPr algn="ctr" marL="465170" indent="-232585" lvl="1">
              <a:lnSpc>
                <a:spcPts val="2348"/>
              </a:lnSpc>
              <a:buFont typeface="Arial"/>
              <a:buChar char="•"/>
            </a:pPr>
            <a:r>
              <a:rPr lang="en-US" b="true" sz="2154">
                <a:solidFill>
                  <a:srgbClr val="674736"/>
                </a:solidFill>
                <a:latin typeface="Aileron Bold"/>
                <a:ea typeface="Aileron Bold"/>
                <a:cs typeface="Aileron Bold"/>
                <a:sym typeface="Aileron Bold"/>
              </a:rPr>
              <a:t>Extend the analysis using advanced visualization or BI tools for enhanced interactivity and scalability.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9559" y="778212"/>
            <a:ext cx="1595418" cy="1717812"/>
          </a:xfrm>
          <a:custGeom>
            <a:avLst/>
            <a:gdLst/>
            <a:ahLst/>
            <a:cxnLst/>
            <a:rect r="r" b="b" t="t" l="l"/>
            <a:pathLst>
              <a:path h="1717812" w="1595418">
                <a:moveTo>
                  <a:pt x="0" y="0"/>
                </a:moveTo>
                <a:lnTo>
                  <a:pt x="1595418" y="0"/>
                </a:lnTo>
                <a:lnTo>
                  <a:pt x="1595418" y="1717812"/>
                </a:lnTo>
                <a:lnTo>
                  <a:pt x="0" y="171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DAHBqRcERsw</dc:identifier>
  <dcterms:modified xsi:type="dcterms:W3CDTF">2011-08-01T06:04:30Z</dcterms:modified>
  <cp:revision>1</cp:revision>
  <dc:title>Cafe Sales Performance &amp; Customer Behaviour Analysis</dc:title>
</cp:coreProperties>
</file>